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71" r:id="rId3"/>
    <p:sldId id="270" r:id="rId4"/>
    <p:sldId id="269" r:id="rId5"/>
    <p:sldId id="266" r:id="rId6"/>
    <p:sldId id="265" r:id="rId7"/>
    <p:sldId id="263" r:id="rId8"/>
    <p:sldId id="259" r:id="rId9"/>
    <p:sldId id="261" r:id="rId10"/>
    <p:sldId id="273" r:id="rId11"/>
    <p:sldId id="262" r:id="rId12"/>
    <p:sldId id="257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8" y="1008"/>
      </p:cViewPr>
      <p:guideLst>
        <p:guide orient="horz" pos="2160"/>
        <p:guide pos="3840"/>
        <p:guide pos="39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58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2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2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03/01/26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99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766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03/01/26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0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03/01/26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55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03/01/26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44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03/01/26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86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22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51104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05863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83553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151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26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5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03/01/26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713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  <p:sldLayoutId id="2147483887" r:id="rId12"/>
    <p:sldLayoutId id="2147483888" r:id="rId13"/>
    <p:sldLayoutId id="2147483889" r:id="rId14"/>
    <p:sldLayoutId id="2147483890" r:id="rId15"/>
    <p:sldLayoutId id="2147483891" r:id="rId16"/>
    <p:sldLayoutId id="214748389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D5CF6F-EFD5-75B7-9792-277C2DEB716B}"/>
              </a:ext>
            </a:extLst>
          </p:cNvPr>
          <p:cNvSpPr txBox="1"/>
          <p:nvPr/>
        </p:nvSpPr>
        <p:spPr>
          <a:xfrm>
            <a:off x="-3487964" y="79193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Project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C7C6A-6C3F-34A1-1E78-AB8222D2686E}"/>
              </a:ext>
            </a:extLst>
          </p:cNvPr>
          <p:cNvSpPr txBox="1"/>
          <p:nvPr/>
        </p:nvSpPr>
        <p:spPr>
          <a:xfrm>
            <a:off x="379186" y="8131939"/>
            <a:ext cx="920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Predict fraudulent credit card transactions to enable early detection and fraud prevention.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961DE5-43DF-7CB3-C5BC-B629357F721D}"/>
              </a:ext>
            </a:extLst>
          </p:cNvPr>
          <p:cNvSpPr txBox="1"/>
          <p:nvPr/>
        </p:nvSpPr>
        <p:spPr>
          <a:xfrm>
            <a:off x="379186" y="2136338"/>
            <a:ext cx="5791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venir Next LT Pro" panose="020B0504020202020204" pitchFamily="34" charset="0"/>
              </a:rPr>
              <a:t>Credit Card Fraud Detection using 1D CNN</a:t>
            </a:r>
          </a:p>
        </p:txBody>
      </p:sp>
      <p:pic>
        <p:nvPicPr>
          <p:cNvPr id="6" name="Graphic 5" descr="Dollar with solid fill">
            <a:extLst>
              <a:ext uri="{FF2B5EF4-FFF2-40B4-BE49-F238E27FC236}">
                <a16:creationId xmlns:a16="http://schemas.microsoft.com/office/drawing/2014/main" id="{C6BBE5B2-DBD8-9E22-1EED-4746362C8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07581" y="3890665"/>
            <a:ext cx="914400" cy="923330"/>
          </a:xfrm>
          <a:prstGeom prst="rect">
            <a:avLst/>
          </a:prstGeom>
        </p:spPr>
      </p:pic>
      <p:pic>
        <p:nvPicPr>
          <p:cNvPr id="7" name="Graphic 6" descr="Rupee with solid fill">
            <a:extLst>
              <a:ext uri="{FF2B5EF4-FFF2-40B4-BE49-F238E27FC236}">
                <a16:creationId xmlns:a16="http://schemas.microsoft.com/office/drawing/2014/main" id="{211A6FFD-5624-7AA7-0818-4C241E6AC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29380" y="7540009"/>
            <a:ext cx="914400" cy="923330"/>
          </a:xfrm>
          <a:prstGeom prst="rect">
            <a:avLst/>
          </a:prstGeom>
        </p:spPr>
      </p:pic>
      <p:pic>
        <p:nvPicPr>
          <p:cNvPr id="8" name="Graphic 7" descr="Yuan with solid fill">
            <a:extLst>
              <a:ext uri="{FF2B5EF4-FFF2-40B4-BE49-F238E27FC236}">
                <a16:creationId xmlns:a16="http://schemas.microsoft.com/office/drawing/2014/main" id="{706C61B1-23AF-0AAF-2584-F8BC26CA07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47080" y="791936"/>
            <a:ext cx="914400" cy="923330"/>
          </a:xfrm>
          <a:prstGeom prst="rect">
            <a:avLst/>
          </a:prstGeom>
        </p:spPr>
      </p:pic>
      <p:pic>
        <p:nvPicPr>
          <p:cNvPr id="9" name="Graphic 8" descr="Pound with solid fill">
            <a:extLst>
              <a:ext uri="{FF2B5EF4-FFF2-40B4-BE49-F238E27FC236}">
                <a16:creationId xmlns:a16="http://schemas.microsoft.com/office/drawing/2014/main" id="{DB0DE6AE-28CC-DBD7-9318-E58160E091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77154" y="-1800137"/>
            <a:ext cx="914400" cy="923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B90631-8732-E924-9F0D-5541F10E44D4}"/>
              </a:ext>
            </a:extLst>
          </p:cNvPr>
          <p:cNvSpPr txBox="1"/>
          <p:nvPr/>
        </p:nvSpPr>
        <p:spPr>
          <a:xfrm>
            <a:off x="8915400" y="5207000"/>
            <a:ext cx="309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Avenir Next LT Pro" panose="020B0504020202020204" pitchFamily="34" charset="0"/>
              </a:rPr>
              <a:t>Savitha </a:t>
            </a:r>
            <a:r>
              <a:rPr lang="en-US" dirty="0" err="1">
                <a:latin typeface="Avenir Next LT Pro" panose="020B0504020202020204" pitchFamily="34" charset="0"/>
              </a:rPr>
              <a:t>Namelikonda</a:t>
            </a: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Avenir Next LT Pro" panose="020B0504020202020204" pitchFamily="34" charset="0"/>
              </a:rPr>
              <a:t>Thanishk P</a:t>
            </a:r>
          </a:p>
        </p:txBody>
      </p:sp>
    </p:spTree>
    <p:extLst>
      <p:ext uri="{BB962C8B-B14F-4D97-AF65-F5344CB8AC3E}">
        <p14:creationId xmlns:p14="http://schemas.microsoft.com/office/powerpoint/2010/main" val="2107691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12314A-9DEB-1A60-148C-7582356E1EA8}"/>
              </a:ext>
            </a:extLst>
          </p:cNvPr>
          <p:cNvSpPr txBox="1"/>
          <p:nvPr/>
        </p:nvSpPr>
        <p:spPr>
          <a:xfrm>
            <a:off x="379186" y="839910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Project Goal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377598-4F5D-7026-FAF7-CB708181C374}"/>
              </a:ext>
            </a:extLst>
          </p:cNvPr>
          <p:cNvSpPr txBox="1"/>
          <p:nvPr/>
        </p:nvSpPr>
        <p:spPr>
          <a:xfrm>
            <a:off x="379186" y="2016889"/>
            <a:ext cx="920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Predict fraudulent credit card transactions to enable early detection and fraud prevention.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1BD7A-77D0-8F9D-1C3F-1FD346BB3670}"/>
              </a:ext>
            </a:extLst>
          </p:cNvPr>
          <p:cNvSpPr txBox="1"/>
          <p:nvPr/>
        </p:nvSpPr>
        <p:spPr>
          <a:xfrm>
            <a:off x="-3487964" y="79193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Input and Ground Truth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AB32-C0AF-F49B-6684-D284D39EED77}"/>
              </a:ext>
            </a:extLst>
          </p:cNvPr>
          <p:cNvSpPr txBox="1"/>
          <p:nvPr/>
        </p:nvSpPr>
        <p:spPr>
          <a:xfrm>
            <a:off x="379186" y="8131939"/>
            <a:ext cx="92029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Model 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Elapsed time between transactions (in 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28 PCA-transformed features (V1–V28)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Transaction amount</a:t>
            </a:r>
          </a:p>
          <a:p>
            <a:endParaRPr lang="en-US" dirty="0">
              <a:latin typeface="Avenir Next LT Pro" panose="020B0504020202020204" pitchFamily="34" charset="0"/>
            </a:endParaRPr>
          </a:p>
          <a:p>
            <a:r>
              <a:rPr lang="en-US" dirty="0">
                <a:latin typeface="Avenir Next LT Pro" panose="020B0504020202020204" pitchFamily="34" charset="0"/>
              </a:rPr>
              <a:t>Ground Truth Label: Binary classification (Class)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 = 1: Fraudulent transaction (Fraud)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 = 0: Legitimate transaction (Not Fraud)</a:t>
            </a:r>
          </a:p>
          <a:p>
            <a:endParaRPr lang="en-US" dirty="0">
              <a:latin typeface="Avenir Next LT Pro" panose="020B0504020202020204" pitchFamily="34" charset="0"/>
            </a:endParaRPr>
          </a:p>
          <a:p>
            <a:r>
              <a:rPr lang="en-US" dirty="0">
                <a:latin typeface="Avenir Next LT Pro" panose="020B0504020202020204" pitchFamily="34" charset="0"/>
              </a:rPr>
              <a:t>Relationship: Input features predict whether a transaction is fraudulent or legitimate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739BE-F0E7-3A93-A603-35FB06017284}"/>
              </a:ext>
            </a:extLst>
          </p:cNvPr>
          <p:cNvSpPr txBox="1"/>
          <p:nvPr/>
        </p:nvSpPr>
        <p:spPr>
          <a:xfrm>
            <a:off x="12522200" y="2136338"/>
            <a:ext cx="5791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venir Next LT Pro" panose="020B0504020202020204" pitchFamily="34" charset="0"/>
              </a:rPr>
              <a:t>Credit Card Fraud Detection using 1D CNN</a:t>
            </a:r>
          </a:p>
        </p:txBody>
      </p:sp>
      <p:pic>
        <p:nvPicPr>
          <p:cNvPr id="10" name="Graphic 9" descr="Credit card with solid fill">
            <a:extLst>
              <a:ext uri="{FF2B5EF4-FFF2-40B4-BE49-F238E27FC236}">
                <a16:creationId xmlns:a16="http://schemas.microsoft.com/office/drawing/2014/main" id="{6836A2D4-64D3-7FC6-D25C-323972C46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0668" y="2663220"/>
            <a:ext cx="914400" cy="914400"/>
          </a:xfrm>
          <a:prstGeom prst="rect">
            <a:avLst/>
          </a:prstGeom>
        </p:spPr>
      </p:pic>
      <p:pic>
        <p:nvPicPr>
          <p:cNvPr id="12" name="Graphic 11" descr="Dollar with solid fill">
            <a:extLst>
              <a:ext uri="{FF2B5EF4-FFF2-40B4-BE49-F238E27FC236}">
                <a16:creationId xmlns:a16="http://schemas.microsoft.com/office/drawing/2014/main" id="{F7574C31-3233-B345-FA7B-5E5C73AA15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236" y="3697035"/>
            <a:ext cx="914400" cy="914400"/>
          </a:xfrm>
          <a:prstGeom prst="rect">
            <a:avLst/>
          </a:prstGeom>
        </p:spPr>
      </p:pic>
      <p:pic>
        <p:nvPicPr>
          <p:cNvPr id="14" name="Graphic 13" descr="Rupee with solid fill">
            <a:extLst>
              <a:ext uri="{FF2B5EF4-FFF2-40B4-BE49-F238E27FC236}">
                <a16:creationId xmlns:a16="http://schemas.microsoft.com/office/drawing/2014/main" id="{7DF33418-31CA-6D53-14CB-9FE0701A77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3820" y="5778078"/>
            <a:ext cx="914400" cy="914400"/>
          </a:xfrm>
          <a:prstGeom prst="rect">
            <a:avLst/>
          </a:prstGeom>
        </p:spPr>
      </p:pic>
      <p:pic>
        <p:nvPicPr>
          <p:cNvPr id="16" name="Graphic 15" descr="Yuan with solid fill">
            <a:extLst>
              <a:ext uri="{FF2B5EF4-FFF2-40B4-BE49-F238E27FC236}">
                <a16:creationId xmlns:a16="http://schemas.microsoft.com/office/drawing/2014/main" id="{F2CDFB8E-A485-BF2D-284A-54E4CE74DC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24950" y="894470"/>
            <a:ext cx="914400" cy="914400"/>
          </a:xfrm>
          <a:prstGeom prst="rect">
            <a:avLst/>
          </a:prstGeom>
        </p:spPr>
      </p:pic>
      <p:pic>
        <p:nvPicPr>
          <p:cNvPr id="18" name="Graphic 17" descr="Pound with solid fill">
            <a:extLst>
              <a:ext uri="{FF2B5EF4-FFF2-40B4-BE49-F238E27FC236}">
                <a16:creationId xmlns:a16="http://schemas.microsoft.com/office/drawing/2014/main" id="{0EACD090-3C36-1192-6EB8-2E66C19823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60674" y="188089"/>
            <a:ext cx="914400" cy="914400"/>
          </a:xfrm>
          <a:prstGeom prst="rect">
            <a:avLst/>
          </a:prstGeom>
        </p:spPr>
      </p:pic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1CAD7142-DB56-A11F-CB4D-0A1AEBA9EA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17874" y="4904548"/>
            <a:ext cx="914400" cy="914400"/>
          </a:xfrm>
          <a:prstGeom prst="rect">
            <a:avLst/>
          </a:prstGeom>
        </p:spPr>
      </p:pic>
      <p:pic>
        <p:nvPicPr>
          <p:cNvPr id="22" name="Graphic 21" descr="Close with solid fill">
            <a:extLst>
              <a:ext uri="{FF2B5EF4-FFF2-40B4-BE49-F238E27FC236}">
                <a16:creationId xmlns:a16="http://schemas.microsoft.com/office/drawing/2014/main" id="{AA321131-8D74-28C8-0960-53CB77DC194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80596" y="4900719"/>
            <a:ext cx="914400" cy="914400"/>
          </a:xfrm>
          <a:prstGeom prst="rect">
            <a:avLst/>
          </a:prstGeom>
        </p:spPr>
      </p:pic>
      <p:pic>
        <p:nvPicPr>
          <p:cNvPr id="28" name="Graphic 27" descr="Back with solid fill">
            <a:extLst>
              <a:ext uri="{FF2B5EF4-FFF2-40B4-BE49-F238E27FC236}">
                <a16:creationId xmlns:a16="http://schemas.microsoft.com/office/drawing/2014/main" id="{97D26294-16DB-C4BA-2EC3-E7AC0110C8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7040380">
            <a:off x="3728510" y="3605100"/>
            <a:ext cx="1269389" cy="914400"/>
          </a:xfrm>
          <a:prstGeom prst="rect">
            <a:avLst/>
          </a:prstGeom>
        </p:spPr>
      </p:pic>
      <p:pic>
        <p:nvPicPr>
          <p:cNvPr id="30" name="Graphic 29" descr="Back with solid fill">
            <a:extLst>
              <a:ext uri="{FF2B5EF4-FFF2-40B4-BE49-F238E27FC236}">
                <a16:creationId xmlns:a16="http://schemas.microsoft.com/office/drawing/2014/main" id="{C5B1034E-D37A-7C51-0166-C5F4FD920CF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4428812">
            <a:off x="5903975" y="3598435"/>
            <a:ext cx="1248999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A7077C9-DA7E-1370-1ACA-86454FC3FEA3}"/>
              </a:ext>
            </a:extLst>
          </p:cNvPr>
          <p:cNvSpPr txBox="1"/>
          <p:nvPr/>
        </p:nvSpPr>
        <p:spPr>
          <a:xfrm>
            <a:off x="13868400" y="5034753"/>
            <a:ext cx="309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latin typeface="Avenir Next LT Pro" panose="020B0504020202020204" pitchFamily="34" charset="0"/>
              </a:rPr>
              <a:t>Savitha </a:t>
            </a:r>
            <a:r>
              <a:rPr lang="en-US" dirty="0" err="1">
                <a:latin typeface="Avenir Next LT Pro" panose="020B0504020202020204" pitchFamily="34" charset="0"/>
              </a:rPr>
              <a:t>Namelikonda</a:t>
            </a: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Avenir Next LT Pro" panose="020B0504020202020204" pitchFamily="34" charset="0"/>
              </a:rPr>
              <a:t>Thanishk P</a:t>
            </a:r>
          </a:p>
        </p:txBody>
      </p:sp>
    </p:spTree>
    <p:extLst>
      <p:ext uri="{BB962C8B-B14F-4D97-AF65-F5344CB8AC3E}">
        <p14:creationId xmlns:p14="http://schemas.microsoft.com/office/powerpoint/2010/main" val="251404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2F9E5F-27E4-BE92-1702-BB9659D17635}"/>
              </a:ext>
            </a:extLst>
          </p:cNvPr>
          <p:cNvSpPr txBox="1"/>
          <p:nvPr/>
        </p:nvSpPr>
        <p:spPr>
          <a:xfrm>
            <a:off x="-3487964" y="79193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81031-AFC8-931B-9363-8E482FC7584F}"/>
              </a:ext>
            </a:extLst>
          </p:cNvPr>
          <p:cNvSpPr txBox="1"/>
          <p:nvPr/>
        </p:nvSpPr>
        <p:spPr>
          <a:xfrm>
            <a:off x="379186" y="8131939"/>
            <a:ext cx="9202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Dataset: Credit Card Fraud Detection (Kaggle)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Size: 284,807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Fraud: 492 transactions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Non-fraud: 284,315 transactions (highly imbalanced)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Format: CSV file (comma-delimited)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Availability: Public dataset; original features not disclosed for confidentiality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373D6E-EB14-45B6-0207-7960F200211B}"/>
              </a:ext>
            </a:extLst>
          </p:cNvPr>
          <p:cNvSpPr txBox="1"/>
          <p:nvPr/>
        </p:nvSpPr>
        <p:spPr>
          <a:xfrm>
            <a:off x="379186" y="839910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Input and Ground Truth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B1EF1-C34B-3B4B-0630-B0E58663F854}"/>
              </a:ext>
            </a:extLst>
          </p:cNvPr>
          <p:cNvSpPr txBox="1"/>
          <p:nvPr/>
        </p:nvSpPr>
        <p:spPr>
          <a:xfrm>
            <a:off x="379186" y="2016889"/>
            <a:ext cx="92029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Model 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Elapsed time between transactions (in 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28 PCA-transformed features (V1–V28)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Transaction amount</a:t>
            </a:r>
          </a:p>
          <a:p>
            <a:endParaRPr lang="en-US" dirty="0">
              <a:latin typeface="Avenir Next LT Pro" panose="020B0504020202020204" pitchFamily="34" charset="0"/>
            </a:endParaRPr>
          </a:p>
          <a:p>
            <a:r>
              <a:rPr lang="en-US" dirty="0">
                <a:latin typeface="Avenir Next LT Pro" panose="020B0504020202020204" pitchFamily="34" charset="0"/>
              </a:rPr>
              <a:t>Ground Truth Label: Binary classification (Class)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 = 1: Fraudulent transaction (Fraud)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 = 0: Legitimate transaction (Not Fraud)</a:t>
            </a:r>
          </a:p>
          <a:p>
            <a:endParaRPr lang="en-US" dirty="0">
              <a:latin typeface="Avenir Next LT Pro" panose="020B0504020202020204" pitchFamily="34" charset="0"/>
            </a:endParaRPr>
          </a:p>
          <a:p>
            <a:r>
              <a:rPr lang="en-US" dirty="0">
                <a:latin typeface="Avenir Next LT Pro" panose="020B0504020202020204" pitchFamily="34" charset="0"/>
              </a:rPr>
              <a:t>Relationship: Input features predict whether a transaction is fraudulent or legitimate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C5124-5546-5EF6-A8D6-B096AB034802}"/>
              </a:ext>
            </a:extLst>
          </p:cNvPr>
          <p:cNvSpPr txBox="1"/>
          <p:nvPr/>
        </p:nvSpPr>
        <p:spPr>
          <a:xfrm>
            <a:off x="12701816" y="839910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Project Goal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6E9CB-5B45-3E36-CC8D-F5ACDD6510EE}"/>
              </a:ext>
            </a:extLst>
          </p:cNvPr>
          <p:cNvSpPr txBox="1"/>
          <p:nvPr/>
        </p:nvSpPr>
        <p:spPr>
          <a:xfrm>
            <a:off x="13993588" y="2016889"/>
            <a:ext cx="9202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Predict fraudulent credit card transactions to enable early detection and fraud prevention.</a:t>
            </a:r>
          </a:p>
        </p:txBody>
      </p:sp>
    </p:spTree>
    <p:extLst>
      <p:ext uri="{BB962C8B-B14F-4D97-AF65-F5344CB8AC3E}">
        <p14:creationId xmlns:p14="http://schemas.microsoft.com/office/powerpoint/2010/main" val="969835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15C5-4736-0732-6F24-FFFD4B95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53C696-09DD-93EB-309E-BC7E39734518}"/>
              </a:ext>
            </a:extLst>
          </p:cNvPr>
          <p:cNvSpPr txBox="1"/>
          <p:nvPr/>
        </p:nvSpPr>
        <p:spPr>
          <a:xfrm>
            <a:off x="379186" y="839910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Dataset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C4925-57D3-0CF0-FD1A-FB403B660FF8}"/>
              </a:ext>
            </a:extLst>
          </p:cNvPr>
          <p:cNvSpPr txBox="1"/>
          <p:nvPr/>
        </p:nvSpPr>
        <p:spPr>
          <a:xfrm>
            <a:off x="379186" y="2016889"/>
            <a:ext cx="9202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Dataset: Credit Card Fraud Detection (Kaggle)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Size: 284,807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Fraud: 492 transactions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Non-fraud: 284,315 transactions (highly imbalanced)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Format: CSV file (comma-delimited)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Availability: Public dataset; original features not disclosed for confidentiality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FF7F3-EBAB-C165-A200-E963698A0CA1}"/>
              </a:ext>
            </a:extLst>
          </p:cNvPr>
          <p:cNvSpPr txBox="1"/>
          <p:nvPr/>
        </p:nvSpPr>
        <p:spPr>
          <a:xfrm>
            <a:off x="-3487964" y="839910"/>
            <a:ext cx="529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1D CNN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Model Architecture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(Thanishk)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D18CF-ED80-EF7B-926D-506C876C62EA}"/>
              </a:ext>
            </a:extLst>
          </p:cNvPr>
          <p:cNvSpPr txBox="1"/>
          <p:nvPr/>
        </p:nvSpPr>
        <p:spPr>
          <a:xfrm>
            <a:off x="13006614" y="839910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Input and Ground Truth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83DAC-24E1-9781-4257-0D1B2590CE73}"/>
              </a:ext>
            </a:extLst>
          </p:cNvPr>
          <p:cNvSpPr txBox="1"/>
          <p:nvPr/>
        </p:nvSpPr>
        <p:spPr>
          <a:xfrm>
            <a:off x="14312900" y="2016889"/>
            <a:ext cx="92029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Model 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Elapsed time between transactions (in seconds)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28 PCA-transformed features (V1–V28)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Transaction amount</a:t>
            </a:r>
          </a:p>
          <a:p>
            <a:endParaRPr lang="en-US" dirty="0">
              <a:latin typeface="Avenir Next LT Pro" panose="020B0504020202020204" pitchFamily="34" charset="0"/>
            </a:endParaRPr>
          </a:p>
          <a:p>
            <a:r>
              <a:rPr lang="en-US" dirty="0">
                <a:latin typeface="Avenir Next LT Pro" panose="020B0504020202020204" pitchFamily="34" charset="0"/>
              </a:rPr>
              <a:t>Ground Truth Label: Binary classification (Class)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 = 1: Fraudulent transaction (Fraud)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 = 0: Legitimate transaction (Not Fraud)</a:t>
            </a:r>
          </a:p>
          <a:p>
            <a:endParaRPr lang="en-US" dirty="0">
              <a:latin typeface="Avenir Next LT Pro" panose="020B0504020202020204" pitchFamily="34" charset="0"/>
            </a:endParaRPr>
          </a:p>
          <a:p>
            <a:r>
              <a:rPr lang="en-US" dirty="0">
                <a:latin typeface="Avenir Next LT Pro" panose="020B0504020202020204" pitchFamily="34" charset="0"/>
              </a:rPr>
              <a:t>Relationship: Input features predict whether a transaction is fraudulent or legitimate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C110D-8CDF-2D28-1C09-6722243FA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7245350"/>
            <a:ext cx="4648200" cy="614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3854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A2B721-77B5-80BA-549F-CAA07798748D}"/>
              </a:ext>
            </a:extLst>
          </p:cNvPr>
          <p:cNvSpPr txBox="1"/>
          <p:nvPr/>
        </p:nvSpPr>
        <p:spPr>
          <a:xfrm>
            <a:off x="-3487964" y="79193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Training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5B66D-60D9-DFA3-312B-0836DB57EBC8}"/>
              </a:ext>
            </a:extLst>
          </p:cNvPr>
          <p:cNvSpPr txBox="1"/>
          <p:nvPr/>
        </p:nvSpPr>
        <p:spPr>
          <a:xfrm>
            <a:off x="379186" y="8131939"/>
            <a:ext cx="9202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Optimizer: Adam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Rate: 0.001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Size: 32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Epochs: 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Seed: 42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Trained on TensorFlow 2.20 (CPU)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5893C-C336-4648-EFDB-12E1D4A88F9A}"/>
              </a:ext>
            </a:extLst>
          </p:cNvPr>
          <p:cNvSpPr txBox="1"/>
          <p:nvPr/>
        </p:nvSpPr>
        <p:spPr>
          <a:xfrm>
            <a:off x="379186" y="791936"/>
            <a:ext cx="529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1D CNN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Model Architecture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(Thanishk)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FDAF59-8B75-E430-E5D0-5A30E2819EE2}"/>
              </a:ext>
            </a:extLst>
          </p:cNvPr>
          <p:cNvSpPr txBox="1"/>
          <p:nvPr/>
        </p:nvSpPr>
        <p:spPr>
          <a:xfrm>
            <a:off x="13195300" y="79193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Dataset Description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F18BA-E365-1983-474D-A6DC1DAF4BF7}"/>
              </a:ext>
            </a:extLst>
          </p:cNvPr>
          <p:cNvSpPr txBox="1"/>
          <p:nvPr/>
        </p:nvSpPr>
        <p:spPr>
          <a:xfrm>
            <a:off x="14603186" y="2016889"/>
            <a:ext cx="9202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Dataset: Credit Card Fraud Detection (Kaggle)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Size: 284,807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Classes: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Fraud: 492 transactions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Non-fraud: 284,315 transactions (highly imbalanced)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Format: CSV file (comma-delimited)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Availability: Public dataset; original features not disclosed for confidentiality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FD975E-98DD-179C-0357-63F493271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9" y="527050"/>
            <a:ext cx="4648200" cy="61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3992F2-6FAB-C0C8-2801-AEEEB9EC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99" y="8131939"/>
            <a:ext cx="5029200" cy="16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1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DCABF5-3F0D-769D-0F24-B02B338CBF26}"/>
              </a:ext>
            </a:extLst>
          </p:cNvPr>
          <p:cNvSpPr txBox="1"/>
          <p:nvPr/>
        </p:nvSpPr>
        <p:spPr>
          <a:xfrm>
            <a:off x="-3025322" y="69668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Ablation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686A7-E6BE-019C-4146-C279211DA54B}"/>
              </a:ext>
            </a:extLst>
          </p:cNvPr>
          <p:cNvSpPr txBox="1"/>
          <p:nvPr/>
        </p:nvSpPr>
        <p:spPr>
          <a:xfrm>
            <a:off x="436336" y="8716735"/>
            <a:ext cx="7183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Drop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Normalization</a:t>
            </a:r>
          </a:p>
          <a:p>
            <a:br>
              <a:rPr lang="en-US" dirty="0">
                <a:latin typeface="Avenir Next LT Pro" panose="020B0504020202020204" pitchFamily="34" charset="0"/>
              </a:rPr>
            </a:b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6571B-8BF9-87B0-2585-EE0606A085E9}"/>
              </a:ext>
            </a:extLst>
          </p:cNvPr>
          <p:cNvSpPr txBox="1"/>
          <p:nvPr/>
        </p:nvSpPr>
        <p:spPr>
          <a:xfrm>
            <a:off x="436336" y="69668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Training Details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4CDB5-FF93-65DB-D5D3-580FD0F11FD0}"/>
              </a:ext>
            </a:extLst>
          </p:cNvPr>
          <p:cNvSpPr txBox="1"/>
          <p:nvPr/>
        </p:nvSpPr>
        <p:spPr>
          <a:xfrm>
            <a:off x="436336" y="1997839"/>
            <a:ext cx="9202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Optimizer: Adam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Rate: 0.001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Size: 32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Epochs: 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Seed: 42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Trained on TensorFlow 2.20 (CPU)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5D0C8-E946-3BBE-D195-4C4E457A168E}"/>
              </a:ext>
            </a:extLst>
          </p:cNvPr>
          <p:cNvSpPr txBox="1"/>
          <p:nvPr/>
        </p:nvSpPr>
        <p:spPr>
          <a:xfrm>
            <a:off x="13608049" y="696686"/>
            <a:ext cx="529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1D CNN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Model Architecture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(Thanishk)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BF6342-AB1B-17A6-42C1-05100D203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6757" y="535801"/>
            <a:ext cx="4648200" cy="61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E39B39-9A71-5FEF-BDBD-6C49CA62B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228" y="1997839"/>
            <a:ext cx="5029200" cy="1637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9B0F81-ACB4-5920-6D3A-2287B2F07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149" y="7755573"/>
            <a:ext cx="3181350" cy="15637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1C8F62-69B2-9663-9732-752E8B3D7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499" y="7755574"/>
            <a:ext cx="3184621" cy="15637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219B51-AE6F-665C-43C4-69DBD7E27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826" y="9517091"/>
            <a:ext cx="3106174" cy="15268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CE6DAD-ACD0-C2F4-37A7-B28993778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9517091"/>
            <a:ext cx="3106174" cy="15252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D8BF7-4C10-85DB-FF96-17F4A274B2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313" y="11367018"/>
            <a:ext cx="3108572" cy="15252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15DFAE-2F86-2402-61FD-3D26629AC0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76885" y="11367018"/>
            <a:ext cx="3110973" cy="152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20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BA343-2F62-BBF3-BB01-F8BBB324F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CB9A85-EE53-F274-A2D3-CB04CE961C85}"/>
              </a:ext>
            </a:extLst>
          </p:cNvPr>
          <p:cNvSpPr txBox="1"/>
          <p:nvPr/>
        </p:nvSpPr>
        <p:spPr>
          <a:xfrm>
            <a:off x="-3454399" y="696686"/>
            <a:ext cx="529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Foundation Model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Comparison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60A93D-6671-DA0D-49C0-74AE6A217E37}"/>
              </a:ext>
            </a:extLst>
          </p:cNvPr>
          <p:cNvSpPr txBox="1"/>
          <p:nvPr/>
        </p:nvSpPr>
        <p:spPr>
          <a:xfrm>
            <a:off x="13237936" y="69668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Training Details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10EC7-A1EB-77C4-36FA-67BEE7063C11}"/>
              </a:ext>
            </a:extLst>
          </p:cNvPr>
          <p:cNvSpPr txBox="1"/>
          <p:nvPr/>
        </p:nvSpPr>
        <p:spPr>
          <a:xfrm>
            <a:off x="14190436" y="1997839"/>
            <a:ext cx="92029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Optimizer: Adam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Rate: 0.001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Size: 32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Epochs: 50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Seed: 42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Trained on TensorFlow 2.20 (CPU)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7375BF-79A0-7E52-B5C1-EA16B53DA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3328" y="1997839"/>
            <a:ext cx="5029200" cy="16376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C89F3C-1F70-495D-EA73-06AA33AF2455}"/>
              </a:ext>
            </a:extLst>
          </p:cNvPr>
          <p:cNvSpPr txBox="1"/>
          <p:nvPr/>
        </p:nvSpPr>
        <p:spPr>
          <a:xfrm>
            <a:off x="303914" y="69668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Ablation Study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C80968-BD0F-A415-83CD-FDB5658AEEA3}"/>
              </a:ext>
            </a:extLst>
          </p:cNvPr>
          <p:cNvSpPr txBox="1"/>
          <p:nvPr/>
        </p:nvSpPr>
        <p:spPr>
          <a:xfrm>
            <a:off x="1186437" y="1997839"/>
            <a:ext cx="7183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Drop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Normalization</a:t>
            </a:r>
          </a:p>
          <a:p>
            <a:br>
              <a:rPr lang="en-US" dirty="0">
                <a:latin typeface="Avenir Next LT Pro" panose="020B0504020202020204" pitchFamily="34" charset="0"/>
              </a:rPr>
            </a:br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BC7C83-FAEE-CDDC-E63B-C3F126B83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250" y="1036677"/>
            <a:ext cx="3181350" cy="15637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5BD67A7-6D5E-F90A-7471-1F61EB371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600" y="1036678"/>
            <a:ext cx="3184621" cy="15637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5F49F70-1860-89B7-C34A-1E2A8A6AF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3927" y="2798195"/>
            <a:ext cx="3106174" cy="15268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7E0E30-5F7D-A2A8-21F7-D55187B0F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0101" y="2798195"/>
            <a:ext cx="3106174" cy="152524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C4BF5A-858E-B44F-4C1B-CDA34A61ED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414" y="4648122"/>
            <a:ext cx="3108572" cy="15252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3764CA-7CF2-32BC-B108-1FEE1DF521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986" y="4648122"/>
            <a:ext cx="3110973" cy="152524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4EB39C-052F-C84B-B3F7-82B79B57E8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6437" y="8390450"/>
            <a:ext cx="5029200" cy="29933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622E0E-4E16-D13F-208A-A117B204D6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6771" y="8390450"/>
            <a:ext cx="5029200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61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4EB6-D0B1-5089-83DA-BE34CCC1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90D6BBA-F020-B6F3-EC28-134C315BB9F8}"/>
              </a:ext>
            </a:extLst>
          </p:cNvPr>
          <p:cNvSpPr txBox="1"/>
          <p:nvPr/>
        </p:nvSpPr>
        <p:spPr>
          <a:xfrm>
            <a:off x="13105514" y="725715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Ablation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51B60-E0B7-2BA6-245A-D537A9BF03A3}"/>
              </a:ext>
            </a:extLst>
          </p:cNvPr>
          <p:cNvSpPr txBox="1"/>
          <p:nvPr/>
        </p:nvSpPr>
        <p:spPr>
          <a:xfrm>
            <a:off x="13988037" y="2026868"/>
            <a:ext cx="71836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Drop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Normalization</a:t>
            </a:r>
          </a:p>
          <a:p>
            <a:br>
              <a:rPr lang="en-US" dirty="0">
                <a:latin typeface="Avenir Next LT Pro" panose="020B0504020202020204" pitchFamily="34" charset="0"/>
              </a:rPr>
            </a:br>
            <a:endParaRPr lang="en-US" dirty="0">
              <a:latin typeface="Avenir Next LT Pro" panose="020B05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6E5B6E-69D9-CF74-25FB-C5E9AD818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850" y="1065706"/>
            <a:ext cx="3181350" cy="1563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64C3F7-3257-0B11-3791-B3D7FB31D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3200" y="1065707"/>
            <a:ext cx="3184621" cy="15637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D9B4AD-199D-4D7F-8A89-BB14EF71D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5527" y="2827224"/>
            <a:ext cx="3106174" cy="15268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8E007C-D97C-2F59-4DBA-DB6ABAD9D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1701" y="2827224"/>
            <a:ext cx="3106174" cy="15252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DF6F8C-F472-67E3-BD9A-DF42EAA73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20014" y="4677151"/>
            <a:ext cx="3108572" cy="15252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903219-CB37-BE8C-43C7-568870412A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28586" y="4677151"/>
            <a:ext cx="3110973" cy="15252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736AD7-7D2F-1817-FAF7-48F82FF75B72}"/>
              </a:ext>
            </a:extLst>
          </p:cNvPr>
          <p:cNvSpPr txBox="1"/>
          <p:nvPr/>
        </p:nvSpPr>
        <p:spPr>
          <a:xfrm>
            <a:off x="362857" y="725715"/>
            <a:ext cx="529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Foundation Model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Comparison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B79E0DA-9657-E0BA-3608-3B5B598F19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672" y="2026868"/>
            <a:ext cx="5014501" cy="29846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CEDB9C-1C0A-EC1B-4B3B-76239CDBA9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1006" y="2026868"/>
            <a:ext cx="4819237" cy="29846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6AAF006-1AE7-B761-2502-D6D10307F12A}"/>
              </a:ext>
            </a:extLst>
          </p:cNvPr>
          <p:cNvSpPr txBox="1"/>
          <p:nvPr/>
        </p:nvSpPr>
        <p:spPr>
          <a:xfrm>
            <a:off x="-4282906" y="725715"/>
            <a:ext cx="529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1D CNN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Model Architecture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(Savitha)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C406943-05A6-73D4-C696-C1CBEC698C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7626" y="8069036"/>
            <a:ext cx="7161424" cy="498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93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102AF-07FC-7A64-BAA3-097C0CF0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1B5EEA-7B21-4BB1-D7A7-541E480EBBD3}"/>
              </a:ext>
            </a:extLst>
          </p:cNvPr>
          <p:cNvSpPr txBox="1"/>
          <p:nvPr/>
        </p:nvSpPr>
        <p:spPr>
          <a:xfrm>
            <a:off x="13842883" y="635526"/>
            <a:ext cx="529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Foundation Model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5DAA5-977E-EFAC-82EE-F2189F06F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0698" y="1936679"/>
            <a:ext cx="5014501" cy="2984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84F7DA-9827-7588-7ACE-6400793A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1032" y="1936679"/>
            <a:ext cx="4819237" cy="29846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CC3858-3110-C8A8-A1DE-273B24DD4848}"/>
              </a:ext>
            </a:extLst>
          </p:cNvPr>
          <p:cNvSpPr txBox="1"/>
          <p:nvPr/>
        </p:nvSpPr>
        <p:spPr>
          <a:xfrm>
            <a:off x="379186" y="791936"/>
            <a:ext cx="529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1D CNN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Model Architecture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(Savitha)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8D441B-5102-AB30-31F8-89755ABD5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376" y="791936"/>
            <a:ext cx="7161424" cy="498236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826D44-C731-6274-7F69-FBA9AB77DB55}"/>
              </a:ext>
            </a:extLst>
          </p:cNvPr>
          <p:cNvSpPr txBox="1"/>
          <p:nvPr/>
        </p:nvSpPr>
        <p:spPr>
          <a:xfrm>
            <a:off x="969116" y="8119109"/>
            <a:ext cx="5684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Optimizer: Adam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Rate: 0.01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Size: 256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Epochs: 30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Seed: 123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Trained on </a:t>
            </a:r>
            <a:r>
              <a:rPr lang="en-US" dirty="0" err="1">
                <a:latin typeface="Avenir Next LT Pro" panose="020B0504020202020204" pitchFamily="34" charset="0"/>
              </a:rPr>
              <a:t>PyTorch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3DFFB5-FCFC-2736-3C13-8AF9855FDBC4}"/>
              </a:ext>
            </a:extLst>
          </p:cNvPr>
          <p:cNvSpPr txBox="1"/>
          <p:nvPr/>
        </p:nvSpPr>
        <p:spPr>
          <a:xfrm>
            <a:off x="-3487964" y="791936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Training Details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86006C60-93A3-308C-C639-AA8609C8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7386409"/>
            <a:ext cx="5827876" cy="349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3079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240536D-AB37-8531-3223-7F987F06B6A5}"/>
              </a:ext>
            </a:extLst>
          </p:cNvPr>
          <p:cNvSpPr txBox="1"/>
          <p:nvPr/>
        </p:nvSpPr>
        <p:spPr>
          <a:xfrm>
            <a:off x="1013859" y="2039851"/>
            <a:ext cx="5684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Optimizer: Adam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Rate: 0.01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Size: 256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Epochs: 30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Seed: 123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Trained on </a:t>
            </a:r>
            <a:r>
              <a:rPr lang="en-US" dirty="0" err="1">
                <a:latin typeface="Avenir Next LT Pro" panose="020B0504020202020204" pitchFamily="34" charset="0"/>
              </a:rPr>
              <a:t>PyTorch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554D7-51D4-CB59-A4C3-95707AF19DD7}"/>
              </a:ext>
            </a:extLst>
          </p:cNvPr>
          <p:cNvSpPr txBox="1"/>
          <p:nvPr/>
        </p:nvSpPr>
        <p:spPr>
          <a:xfrm>
            <a:off x="13333186" y="937819"/>
            <a:ext cx="5297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1D CNN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Model Architecture 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(Savitha)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6F6AA-88BB-868E-CFD5-C9A0A77E0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5376" y="937819"/>
            <a:ext cx="7161424" cy="49823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4AE816-E458-F49E-3653-D1663977B54B}"/>
              </a:ext>
            </a:extLst>
          </p:cNvPr>
          <p:cNvSpPr txBox="1"/>
          <p:nvPr/>
        </p:nvSpPr>
        <p:spPr>
          <a:xfrm>
            <a:off x="188686" y="937819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Training Details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7F959E2-05D9-1339-4E63-6CF1E14A0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214" y="1307151"/>
            <a:ext cx="5827876" cy="349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5B6319-BF5C-5320-561B-21A5E706E4AD}"/>
              </a:ext>
            </a:extLst>
          </p:cNvPr>
          <p:cNvSpPr txBox="1"/>
          <p:nvPr/>
        </p:nvSpPr>
        <p:spPr>
          <a:xfrm>
            <a:off x="-4310069" y="937818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Technique Study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72DB1-6310-92EC-F6BA-698DDEFC1348}"/>
              </a:ext>
            </a:extLst>
          </p:cNvPr>
          <p:cNvSpPr txBox="1"/>
          <p:nvPr/>
        </p:nvSpPr>
        <p:spPr>
          <a:xfrm>
            <a:off x="1013859" y="7777984"/>
            <a:ext cx="7183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</a:t>
            </a:r>
            <a:br>
              <a:rPr lang="en-US" dirty="0">
                <a:latin typeface="Avenir Next LT Pro" panose="020B0504020202020204" pitchFamily="34" charset="0"/>
              </a:rPr>
            </a:br>
            <a:endParaRPr lang="en-US" dirty="0">
              <a:latin typeface="Avenir Next LT Pro" panose="020B05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733FD5-1959-B720-DEC5-52880F5BF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374392"/>
              </p:ext>
            </p:extLst>
          </p:nvPr>
        </p:nvGraphicFramePr>
        <p:xfrm>
          <a:off x="4167963" y="7271836"/>
          <a:ext cx="8285296" cy="452094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35662">
                  <a:extLst>
                    <a:ext uri="{9D8B030D-6E8A-4147-A177-3AD203B41FA5}">
                      <a16:colId xmlns:a16="http://schemas.microsoft.com/office/drawing/2014/main" val="3076061145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1619117498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613748384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12567159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3999548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2025941361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24400843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1855266959"/>
                    </a:ext>
                  </a:extLst>
                </a:gridCol>
              </a:tblGrid>
              <a:tr h="361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Model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Accuracy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/>
                        <a:t>Precision</a:t>
                      </a:r>
                      <a:endParaRPr lang="en-US" sz="700" dirty="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Recall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F1_Score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ROC_AUC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Training_Loss_Final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SMOTE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06257187"/>
                  </a:ext>
                </a:extLst>
              </a:tr>
              <a:tr h="112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base model with learning_rate=0.01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0.9988765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0.6444444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0.7837838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0.70731707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0.9402946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0.0032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579965623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0.9992978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0.8055556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0.7837838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0.79452055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0.9627718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0.001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970447645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learning_rate=0.01 and epochs=15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0.9988998642385656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0.6483516483516484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0.7972972972972973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0.7151515151515152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0.9479209442982657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0.00461811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1044982273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0.9947567997752914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0.22627737226277372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0.8378378378378378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0.3563218390804598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0.9612688976258196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0.7469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Not 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1855824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159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7E0C-E3E6-908E-5B0B-F7ADA86D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B938E4-17CA-7F95-6083-8B5F0433C63A}"/>
              </a:ext>
            </a:extLst>
          </p:cNvPr>
          <p:cNvSpPr txBox="1"/>
          <p:nvPr/>
        </p:nvSpPr>
        <p:spPr>
          <a:xfrm>
            <a:off x="420914" y="682173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Technique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EC4DD-3A80-2476-DDE0-8533A3689462}"/>
              </a:ext>
            </a:extLst>
          </p:cNvPr>
          <p:cNvSpPr txBox="1"/>
          <p:nvPr/>
        </p:nvSpPr>
        <p:spPr>
          <a:xfrm>
            <a:off x="13834509" y="1784205"/>
            <a:ext cx="5684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Optimizer: Adam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Rate: 0.01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Batch Size: 256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Epochs: 30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Seed: 123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Trained on </a:t>
            </a:r>
            <a:r>
              <a:rPr lang="en-US" dirty="0" err="1">
                <a:latin typeface="Avenir Next LT Pro" panose="020B0504020202020204" pitchFamily="34" charset="0"/>
              </a:rPr>
              <a:t>PyTorch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FDDDDF-10AA-907F-E2D7-CAC520455040}"/>
              </a:ext>
            </a:extLst>
          </p:cNvPr>
          <p:cNvSpPr txBox="1"/>
          <p:nvPr/>
        </p:nvSpPr>
        <p:spPr>
          <a:xfrm>
            <a:off x="13009336" y="682173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Training Details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4113DBD6-0114-851E-1615-1C4D0AD36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2864" y="1051505"/>
            <a:ext cx="5827876" cy="3496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7A2A07-70C6-3F94-D30B-8CB93037FB05}"/>
              </a:ext>
            </a:extLst>
          </p:cNvPr>
          <p:cNvSpPr txBox="1"/>
          <p:nvPr/>
        </p:nvSpPr>
        <p:spPr>
          <a:xfrm>
            <a:off x="1186437" y="1997839"/>
            <a:ext cx="7183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</a:t>
            </a:r>
            <a:br>
              <a:rPr lang="en-US" dirty="0">
                <a:latin typeface="Avenir Next LT Pro" panose="020B0504020202020204" pitchFamily="34" charset="0"/>
              </a:rPr>
            </a:br>
            <a:endParaRPr lang="en-US" dirty="0">
              <a:latin typeface="Avenir Next LT Pro" panose="020B05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43B9EB-B67F-A3AB-FD97-59AB97E8EF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463734"/>
              </p:ext>
            </p:extLst>
          </p:nvPr>
        </p:nvGraphicFramePr>
        <p:xfrm>
          <a:off x="3602038" y="1168526"/>
          <a:ext cx="8285296" cy="452094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35662">
                  <a:extLst>
                    <a:ext uri="{9D8B030D-6E8A-4147-A177-3AD203B41FA5}">
                      <a16:colId xmlns:a16="http://schemas.microsoft.com/office/drawing/2014/main" val="3076061145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1619117498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613748384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12567159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3999548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2025941361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24400843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1855266959"/>
                    </a:ext>
                  </a:extLst>
                </a:gridCol>
              </a:tblGrid>
              <a:tr h="361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Model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Accuracy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/>
                        <a:t>Precision</a:t>
                      </a:r>
                      <a:endParaRPr lang="en-US" sz="700" dirty="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Recall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F1_Score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ROC_AUC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Training_Loss_Final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SMOTE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06257187"/>
                  </a:ext>
                </a:extLst>
              </a:tr>
              <a:tr h="112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base model with learning_rate=0.01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0.9988765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0.6444444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0.7837838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0.70731707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0.9402946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0.0032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579965623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0.9992978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0.8055556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0.7837838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0.79452055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0.9627718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0.001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970447645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learning_rate=0.01 and epochs=15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0.9988998642385656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0.6483516483516484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0.7972972972972973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0.7151515151515152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0.9479209442982657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0.00461811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1044982273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0.9947567997752914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0.22627737226277372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0.8378378378378378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0.3563218390804598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0.9612688976258196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0.7469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Not 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1855824634"/>
                  </a:ext>
                </a:extLst>
              </a:tr>
            </a:tbl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CAF005EB-8605-180C-97C2-2B396B512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2038" y="5921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056E9E-5D27-BD97-CC0D-221AA68E2E13}"/>
              </a:ext>
            </a:extLst>
          </p:cNvPr>
          <p:cNvSpPr txBox="1"/>
          <p:nvPr/>
        </p:nvSpPr>
        <p:spPr>
          <a:xfrm>
            <a:off x="-3454399" y="696686"/>
            <a:ext cx="529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Foundation Model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Comparison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4E81D72-43B5-3218-FC69-5B7B72CF7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10967"/>
              </p:ext>
            </p:extLst>
          </p:nvPr>
        </p:nvGraphicFramePr>
        <p:xfrm>
          <a:off x="4669560" y="7441511"/>
          <a:ext cx="7522440" cy="361473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40305">
                  <a:extLst>
                    <a:ext uri="{9D8B030D-6E8A-4147-A177-3AD203B41FA5}">
                      <a16:colId xmlns:a16="http://schemas.microsoft.com/office/drawing/2014/main" val="3523442165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479138988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111595902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168125676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70890661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727170993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343310740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321809091"/>
                    </a:ext>
                  </a:extLst>
                </a:gridCol>
              </a:tblGrid>
              <a:tr h="50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Model</a:t>
                      </a:r>
                      <a:endParaRPr lang="en-US" sz="1050" dirty="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Accuracy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Precision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Recall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F1_Score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ROC_AUC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Training_Loss_Final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SMOTE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3019998776"/>
                  </a:ext>
                </a:extLst>
              </a:tr>
              <a:tr h="1556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CNN base model with learning_rate=0.01 and epochs=30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0.998876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0.644444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0.783784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0.707317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0.940295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0.0032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Applied</a:t>
                      </a:r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2860082841"/>
                  </a:ext>
                </a:extLst>
              </a:tr>
              <a:tr h="1556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Foundation model with </a:t>
                      </a:r>
                      <a:r>
                        <a:rPr lang="en-US" sz="1050" dirty="0" err="1"/>
                        <a:t>learning_rate</a:t>
                      </a:r>
                      <a:r>
                        <a:rPr lang="en-US" sz="1050" dirty="0"/>
                        <a:t>=0.01 and epochs=30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0.994687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0.223827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0.8378378378378378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0.353276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0.964894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0.729727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Applied</a:t>
                      </a:r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3083422362"/>
                  </a:ext>
                </a:extLst>
              </a:tr>
            </a:tbl>
          </a:graphicData>
        </a:graphic>
      </p:graphicFrame>
      <p:pic>
        <p:nvPicPr>
          <p:cNvPr id="21" name="Picture 3">
            <a:extLst>
              <a:ext uri="{FF2B5EF4-FFF2-40B4-BE49-F238E27FC236}">
                <a16:creationId xmlns:a16="http://schemas.microsoft.com/office/drawing/2014/main" id="{02F1EDF5-3A24-C053-A3BA-669374FCE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10" y="8041602"/>
            <a:ext cx="4468550" cy="268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412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28AAFF-84FD-B2BA-93B7-35AF5499A072}"/>
              </a:ext>
            </a:extLst>
          </p:cNvPr>
          <p:cNvSpPr txBox="1"/>
          <p:nvPr/>
        </p:nvSpPr>
        <p:spPr>
          <a:xfrm>
            <a:off x="-6523059" y="3348389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venir Next LT Pro" panose="020B0504020202020204" pitchFamily="34" charset="0"/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51768-62AE-21F5-3DA2-C02367BD4622}"/>
              </a:ext>
            </a:extLst>
          </p:cNvPr>
          <p:cNvSpPr txBox="1"/>
          <p:nvPr/>
        </p:nvSpPr>
        <p:spPr>
          <a:xfrm>
            <a:off x="13178971" y="699702"/>
            <a:ext cx="5297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Technique Study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103E5-FB9C-010E-4C16-86BB9C31F499}"/>
              </a:ext>
            </a:extLst>
          </p:cNvPr>
          <p:cNvSpPr txBox="1"/>
          <p:nvPr/>
        </p:nvSpPr>
        <p:spPr>
          <a:xfrm>
            <a:off x="13944494" y="2015368"/>
            <a:ext cx="71836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Smote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venir Next LT Pro" panose="020B05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venir Next LT Pro" panose="020B0504020202020204" pitchFamily="34" charset="0"/>
              </a:rPr>
              <a:t>Epochs</a:t>
            </a:r>
            <a:br>
              <a:rPr lang="en-US" dirty="0">
                <a:latin typeface="Avenir Next LT Pro" panose="020B0504020202020204" pitchFamily="34" charset="0"/>
              </a:rPr>
            </a:br>
            <a:endParaRPr lang="en-US" dirty="0">
              <a:latin typeface="Avenir Next LT Pro" panose="020B05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4B4F340-D881-2B19-0445-1617CDE25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2263"/>
              </p:ext>
            </p:extLst>
          </p:nvPr>
        </p:nvGraphicFramePr>
        <p:xfrm>
          <a:off x="16388991" y="1168526"/>
          <a:ext cx="8285296" cy="452094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35662">
                  <a:extLst>
                    <a:ext uri="{9D8B030D-6E8A-4147-A177-3AD203B41FA5}">
                      <a16:colId xmlns:a16="http://schemas.microsoft.com/office/drawing/2014/main" val="3076061145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1619117498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613748384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12567159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3999548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2025941361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3244008436"/>
                    </a:ext>
                  </a:extLst>
                </a:gridCol>
                <a:gridCol w="1035662">
                  <a:extLst>
                    <a:ext uri="{9D8B030D-6E8A-4147-A177-3AD203B41FA5}">
                      <a16:colId xmlns:a16="http://schemas.microsoft.com/office/drawing/2014/main" val="1855266959"/>
                    </a:ext>
                  </a:extLst>
                </a:gridCol>
              </a:tblGrid>
              <a:tr h="361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Model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Accuracy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/>
                        <a:t>Precision</a:t>
                      </a:r>
                      <a:endParaRPr lang="en-US" sz="700" dirty="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Recall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F1_Score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ROC_AUC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Training_Loss_Final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/>
                        <a:t>SMOTE</a:t>
                      </a:r>
                      <a:endParaRPr lang="en-US" sz="700"/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06257187"/>
                  </a:ext>
                </a:extLst>
              </a:tr>
              <a:tr h="112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base model with learning_rate=0.01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0.9988765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0.6444444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0.7837838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0.70731707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0.9402946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0.0032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579965623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0.9992978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0.8055556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0.7837838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0.79452055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0.9627718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0.001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3970447645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learning_rate=0.01 and epochs=15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0.9988998642385656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0.6483516483516484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0.7972972972972973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0.7151515151515152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0.9479209442982657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0.00461811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1044982273"/>
                  </a:ext>
                </a:extLst>
              </a:tr>
              <a:tr h="1012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CNN model with learning_rate=0.01 and epochs=30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0.9947567997752914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0.22627737226277372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0.8378378378378378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0.3563218390804598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0.9612688976258196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/>
                        <a:t>0.7469</a:t>
                      </a:r>
                    </a:p>
                  </a:txBody>
                  <a:tcPr marL="28918" marR="28918" marT="14459" marB="144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/>
                        <a:t>Not Applied</a:t>
                      </a:r>
                    </a:p>
                  </a:txBody>
                  <a:tcPr marL="28918" marR="28918" marT="14459" marB="14459" anchor="ctr"/>
                </a:tc>
                <a:extLst>
                  <a:ext uri="{0D108BD9-81ED-4DB2-BD59-A6C34878D82A}">
                    <a16:rowId xmlns:a16="http://schemas.microsoft.com/office/drawing/2014/main" val="18558246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556F24A-8D25-1A01-82ED-24AE12EB0EF0}"/>
              </a:ext>
            </a:extLst>
          </p:cNvPr>
          <p:cNvSpPr txBox="1"/>
          <p:nvPr/>
        </p:nvSpPr>
        <p:spPr>
          <a:xfrm>
            <a:off x="362857" y="725715"/>
            <a:ext cx="529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Foundation Model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Comparison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788491-CBB0-5369-9DDF-63B3477F6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236810"/>
              </p:ext>
            </p:extLst>
          </p:nvPr>
        </p:nvGraphicFramePr>
        <p:xfrm>
          <a:off x="4669560" y="1403568"/>
          <a:ext cx="7522440" cy="361473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40305">
                  <a:extLst>
                    <a:ext uri="{9D8B030D-6E8A-4147-A177-3AD203B41FA5}">
                      <a16:colId xmlns:a16="http://schemas.microsoft.com/office/drawing/2014/main" val="3523442165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479138988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111595902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168125676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70890661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727170993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343310740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321809091"/>
                    </a:ext>
                  </a:extLst>
                </a:gridCol>
              </a:tblGrid>
              <a:tr h="50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Model</a:t>
                      </a:r>
                      <a:endParaRPr lang="en-US" sz="1050" dirty="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Accuracy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Precision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Recall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F1_Score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ROC_AUC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Training_Loss_Final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SMOTE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3019998776"/>
                  </a:ext>
                </a:extLst>
              </a:tr>
              <a:tr h="1556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CNN base model with learning_rate=0.01 and epochs=30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0.998876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0.644444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0.783784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0.707317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0.940295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0.0032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Applied</a:t>
                      </a:r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2860082841"/>
                  </a:ext>
                </a:extLst>
              </a:tr>
              <a:tr h="1556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Foundation model with </a:t>
                      </a:r>
                      <a:r>
                        <a:rPr lang="en-US" sz="1050" dirty="0" err="1"/>
                        <a:t>learning_rate</a:t>
                      </a:r>
                      <a:r>
                        <a:rPr lang="en-US" sz="1050" dirty="0"/>
                        <a:t>=0.01 and epochs=30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0.994687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0.223827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0.8378378378378378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0.353276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0.964894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0.729727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Applied</a:t>
                      </a:r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3083422362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9DB21532-8710-1A44-BD00-900A5341E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8263" y="6651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A97E054B-B3C3-3A2B-DE22-0DECAFB7E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10" y="2003659"/>
            <a:ext cx="4468550" cy="268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6466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1F5E-FC3B-2780-2F68-27F39FA2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F24EC52-9F53-3112-3076-ACB82B08994C}"/>
              </a:ext>
            </a:extLst>
          </p:cNvPr>
          <p:cNvSpPr txBox="1"/>
          <p:nvPr/>
        </p:nvSpPr>
        <p:spPr>
          <a:xfrm>
            <a:off x="379186" y="2967335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venir Next LT Pro" panose="020B0504020202020204" pitchFamily="34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2687A-D199-A5E4-4EF3-06F1B73A5BBA}"/>
              </a:ext>
            </a:extLst>
          </p:cNvPr>
          <p:cNvSpPr txBox="1"/>
          <p:nvPr/>
        </p:nvSpPr>
        <p:spPr>
          <a:xfrm>
            <a:off x="13570858" y="609600"/>
            <a:ext cx="529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Next LT Pro" panose="020B0504020202020204" pitchFamily="34" charset="0"/>
              </a:rPr>
              <a:t>Foundation Model</a:t>
            </a:r>
          </a:p>
          <a:p>
            <a:r>
              <a:rPr lang="en-US" dirty="0">
                <a:latin typeface="Avenir Next LT Pro" panose="020B0504020202020204" pitchFamily="34" charset="0"/>
              </a:rPr>
              <a:t>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0DBA15-DEE4-27F1-35E7-0F47AAA4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775371"/>
              </p:ext>
            </p:extLst>
          </p:nvPr>
        </p:nvGraphicFramePr>
        <p:xfrm>
          <a:off x="17877561" y="1287453"/>
          <a:ext cx="7522440" cy="3614737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940305">
                  <a:extLst>
                    <a:ext uri="{9D8B030D-6E8A-4147-A177-3AD203B41FA5}">
                      <a16:colId xmlns:a16="http://schemas.microsoft.com/office/drawing/2014/main" val="3523442165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479138988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111595902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168125676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70890661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727170993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2343310740"/>
                    </a:ext>
                  </a:extLst>
                </a:gridCol>
                <a:gridCol w="940305">
                  <a:extLst>
                    <a:ext uri="{9D8B030D-6E8A-4147-A177-3AD203B41FA5}">
                      <a16:colId xmlns:a16="http://schemas.microsoft.com/office/drawing/2014/main" val="3321809091"/>
                    </a:ext>
                  </a:extLst>
                </a:gridCol>
              </a:tblGrid>
              <a:tr h="50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Model</a:t>
                      </a:r>
                      <a:endParaRPr lang="en-US" sz="1050" dirty="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Accuracy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Precision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Recall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F1_Score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ROC_AUC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Training_Loss_Final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/>
                        <a:t>SMOTE</a:t>
                      </a:r>
                      <a:endParaRPr lang="en-US" sz="1050"/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3019998776"/>
                  </a:ext>
                </a:extLst>
              </a:tr>
              <a:tr h="1556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CNN base model with learning_rate=0.01 and epochs=30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0.998876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0.644444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0.783784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0.707317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0.940295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0.0032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Applied</a:t>
                      </a:r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2860082841"/>
                  </a:ext>
                </a:extLst>
              </a:tr>
              <a:tr h="1556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Foundation model with </a:t>
                      </a:r>
                      <a:r>
                        <a:rPr lang="en-US" sz="1050" dirty="0" err="1"/>
                        <a:t>learning_rate</a:t>
                      </a:r>
                      <a:r>
                        <a:rPr lang="en-US" sz="1050" dirty="0"/>
                        <a:t>=0.01 and epochs=30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0.994687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0.223827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0.8378378378378378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0.353276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0.964894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0.729727</a:t>
                      </a:r>
                    </a:p>
                  </a:txBody>
                  <a:tcPr marL="50205" marR="50205" marT="25102" marB="2510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Applied</a:t>
                      </a:r>
                    </a:p>
                  </a:txBody>
                  <a:tcPr marL="50205" marR="50205" marT="25102" marB="25102" anchor="ctr"/>
                </a:tc>
                <a:extLst>
                  <a:ext uri="{0D108BD9-81ED-4DB2-BD59-A6C34878D82A}">
                    <a16:rowId xmlns:a16="http://schemas.microsoft.com/office/drawing/2014/main" val="3083422362"/>
                  </a:ext>
                </a:extLst>
              </a:tr>
            </a:tbl>
          </a:graphicData>
        </a:graphic>
      </p:graphicFrame>
      <p:pic>
        <p:nvPicPr>
          <p:cNvPr id="9" name="Picture 3">
            <a:extLst>
              <a:ext uri="{FF2B5EF4-FFF2-40B4-BE49-F238E27FC236}">
                <a16:creationId xmlns:a16="http://schemas.microsoft.com/office/drawing/2014/main" id="{02CF1ABB-2065-5618-D292-A0A8B24F6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9011" y="1887544"/>
            <a:ext cx="4468550" cy="2689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929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838</TotalTime>
  <Words>1106</Words>
  <Application>Microsoft Office PowerPoint</Application>
  <PresentationFormat>Widescreen</PresentationFormat>
  <Paragraphs>383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</vt:lpstr>
      <vt:lpstr>Century Gothic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Thanishk P</dc:creator>
  <cp:lastModifiedBy>Thanishk P</cp:lastModifiedBy>
  <cp:revision>205</cp:revision>
  <dcterms:created xsi:type="dcterms:W3CDTF">2026-01-29T23:19:22Z</dcterms:created>
  <dcterms:modified xsi:type="dcterms:W3CDTF">2026-03-02T03:54:53Z</dcterms:modified>
</cp:coreProperties>
</file>